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888454a1444af0" /><Relationship Type="http://schemas.openxmlformats.org/officeDocument/2006/relationships/extended-properties" Target="/docProps/app.xml" Id="Rd7f9a94c5fa44461" /><Relationship Type="http://schemas.openxmlformats.org/officeDocument/2006/relationships/officeDocument" Target="/ppt/presentation.xml" Id="Re1651cb70eff4f9d" /></Relationships>
</file>

<file path=ppt/presentation.xml><?xml version="1.0" encoding="utf-8"?>
<p:presentation xmlns:p="http://schemas.openxmlformats.org/presentationml/2006/main">
  <p:sldMasterIdLst>
    <p:sldMasterId xmlns:r="http://schemas.openxmlformats.org/officeDocument/2006/relationships" id="2147483648" r:id="Rd3c65d111eac4eae"/>
  </p:sldMasterIdLst>
  <p:notesMasterIdLst>
    <p:notesMasterId xmlns:r="http://schemas.openxmlformats.org/officeDocument/2006/relationships" r:id="R5a3c5372b0154d6a"/>
  </p:notesMasterIdLst>
  <p:sldIdLst>
    <p:sldId xmlns:r="http://schemas.openxmlformats.org/officeDocument/2006/relationships" id="256" r:id="Ra4d71559969541d8"/>
    <p:sldId xmlns:r="http://schemas.openxmlformats.org/officeDocument/2006/relationships" id="257" r:id="R34a8823c98a54970"/>
    <p:sldId xmlns:r="http://schemas.openxmlformats.org/officeDocument/2006/relationships" id="258" r:id="R5be6549958fe43ce"/>
    <p:sldId xmlns:r="http://schemas.openxmlformats.org/officeDocument/2006/relationships" id="259" r:id="Rdfee48f55a6e4c60"/>
    <p:sldId xmlns:r="http://schemas.openxmlformats.org/officeDocument/2006/relationships" id="260" r:id="Rdb3834b785e34ce8"/>
    <p:sldId xmlns:r="http://schemas.openxmlformats.org/officeDocument/2006/relationships" id="261" r:id="R23b04cf3ecac4aa2"/>
    <p:sldId xmlns:r="http://schemas.openxmlformats.org/officeDocument/2006/relationships" id="262" r:id="R5f97253ccb6f4fdb"/>
    <p:sldId xmlns:r="http://schemas.openxmlformats.org/officeDocument/2006/relationships" id="263" r:id="R412672d3fd7a4a70"/>
    <p:sldId xmlns:r="http://schemas.openxmlformats.org/officeDocument/2006/relationships" id="264" r:id="Rc216037b337a4596"/>
    <p:sldId xmlns:r="http://schemas.openxmlformats.org/officeDocument/2006/relationships" id="265" r:id="R54a6bf365f8348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06e84603d144cc" /><Relationship Type="http://schemas.openxmlformats.org/officeDocument/2006/relationships/slideMaster" Target="/ppt/slideMasters/slideMaster1.xml" Id="Rd3c65d111eac4eae" /><Relationship Type="http://schemas.openxmlformats.org/officeDocument/2006/relationships/notesMaster" Target="/ppt/notesMasters/notesMaster1.xml" Id="R5a3c5372b0154d6a" /><Relationship Type="http://schemas.openxmlformats.org/officeDocument/2006/relationships/presProps" Target="/ppt/presProps.xml" Id="R6169573a47ce4210" /><Relationship Type="http://schemas.openxmlformats.org/officeDocument/2006/relationships/tableStyles" Target="/ppt/tableStyles.xml" Id="Ra9d1fa0648994ed3" /><Relationship Type="http://schemas.openxmlformats.org/officeDocument/2006/relationships/slide" Target="/ppt/slides/slide1.xml" Id="Ra4d71559969541d8" /><Relationship Type="http://schemas.openxmlformats.org/officeDocument/2006/relationships/slide" Target="/ppt/slides/slide2.xml" Id="R34a8823c98a54970" /><Relationship Type="http://schemas.openxmlformats.org/officeDocument/2006/relationships/slide" Target="/ppt/slides/slide3.xml" Id="R5be6549958fe43ce" /><Relationship Type="http://schemas.openxmlformats.org/officeDocument/2006/relationships/slide" Target="/ppt/slides/slide4.xml" Id="Rdfee48f55a6e4c60" /><Relationship Type="http://schemas.openxmlformats.org/officeDocument/2006/relationships/slide" Target="/ppt/slides/slide5.xml" Id="Rdb3834b785e34ce8" /><Relationship Type="http://schemas.openxmlformats.org/officeDocument/2006/relationships/slide" Target="/ppt/slides/slide6.xml" Id="R23b04cf3ecac4aa2" /><Relationship Type="http://schemas.openxmlformats.org/officeDocument/2006/relationships/slide" Target="/ppt/slides/slide7.xml" Id="R5f97253ccb6f4fdb" /><Relationship Type="http://schemas.openxmlformats.org/officeDocument/2006/relationships/slide" Target="/ppt/slides/slide8.xml" Id="R412672d3fd7a4a70" /><Relationship Type="http://schemas.openxmlformats.org/officeDocument/2006/relationships/slide" Target="/ppt/slides/slide9.xml" Id="Rc216037b337a4596" /><Relationship Type="http://schemas.openxmlformats.org/officeDocument/2006/relationships/slide" Target="/ppt/slides/slide10.xml" Id="R54a6bf365f8348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5991061f874a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20322aad5849fb" /><Relationship Type="http://schemas.openxmlformats.org/officeDocument/2006/relationships/notesMaster" Target="/ppt/notesMasters/notesMaster1.xml" Id="Ra2090866c51d45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251d0510da4450" /><Relationship Type="http://schemas.openxmlformats.org/officeDocument/2006/relationships/notesMaster" Target="/ppt/notesMasters/notesMaster1.xml" Id="Re803b51ed72745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be3e6485874411" /><Relationship Type="http://schemas.openxmlformats.org/officeDocument/2006/relationships/notesMaster" Target="/ppt/notesMasters/notesMaster1.xml" Id="Rbc1e0d75f6db43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a597d34084493c" /><Relationship Type="http://schemas.openxmlformats.org/officeDocument/2006/relationships/notesMaster" Target="/ppt/notesMasters/notesMaster1.xml" Id="R18530253193c46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ac5e1d5918481c" /><Relationship Type="http://schemas.openxmlformats.org/officeDocument/2006/relationships/notesMaster" Target="/ppt/notesMasters/notesMaster1.xml" Id="R67beede7e66c4c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830e931b3544e1" /><Relationship Type="http://schemas.openxmlformats.org/officeDocument/2006/relationships/notesMaster" Target="/ppt/notesMasters/notesMaster1.xml" Id="Rfbd72e7cb9b445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2a5642c65c4ae0" /><Relationship Type="http://schemas.openxmlformats.org/officeDocument/2006/relationships/notesMaster" Target="/ppt/notesMasters/notesMaster1.xml" Id="R7969f184b2a441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2f6f64c65347c7" /><Relationship Type="http://schemas.openxmlformats.org/officeDocument/2006/relationships/notesMaster" Target="/ppt/notesMasters/notesMaster1.xml" Id="Rcde344029be342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887cba6d0b42c9" /><Relationship Type="http://schemas.openxmlformats.org/officeDocument/2006/relationships/notesMaster" Target="/ppt/notesMasters/notesMaster1.xml" Id="Rf7c25b8cd8874b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3da67be29a4169" /><Relationship Type="http://schemas.openxmlformats.org/officeDocument/2006/relationships/notesMaster" Target="/ppt/notesMasters/notesMaster1.xml" Id="R72bd005ff98247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audience and introduce Puzzle Lab, the Team 2 mini-project. Sources: current website Header.tsx and the user-supplied home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player goal: investigate clues and solve each stage to unlock the next puzzle. There are three puzzles, three stages in each puzzle, and two hints per stage. The theme draws on Breaking Bad. React and TypeScript power the interface; Express owns game progress. Sources: server/data.js, server/store.js, client/package.json, server/package.json.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first Investigate button and the disabled buttons for levels 2 and 3. The server supplies the lock state. Sources: PuzzlesSection.tsx and PuzzleCard.tsx.</a:t>
            </a:r>
          </a:p>
          <a:p xmlns:a="http://schemas.openxmlformats.org/drawingml/2006/main">
            <a:r>
              <a:t>Screenshot source: docs/puzzle-lab-screenshots/1-homepage.png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guide introduces stories, clues, answers, hints, and ordered completion. Source: HowToPlayPage.tsx.</a:t>
            </a:r>
          </a:p>
          <a:p xmlns:a="http://schemas.openxmlformats.org/drawingml/2006/main">
            <a:r>
              <a:t>Screenshot source: docs/puzzle-lab-screenshots/2-how-to-play.png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question, clues, answer input, and hints panel. Explain that a wrong answer keeps the current stage and a correct answer advances it. Sources: PuzzleSection.tsx, SubmitAnswerForm.tsx, server/controllers/puzzles.js.</a:t>
            </a:r>
          </a:p>
          <a:p xmlns:a="http://schemas.openxmlformats.org/drawingml/2006/main">
            <a:r>
              <a:t>Screenshot source: docs/puzzle-lab-screenshots/3-gameplay.png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same puzzle route changes to the solved view. Puzzles 1 and 2 offer Next puzzle. Puzzle 3 offers Back to home. Sources: PuzzleSection.tsx and server/store.js.</a:t>
            </a:r>
          </a:p>
          <a:p xmlns:a="http://schemas.openxmlformats.org/drawingml/2006/main">
            <a:r>
              <a:t>Screenshot source: docs/puzzle-lab-screenshots/4-final-reveal.png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five real Express routes at a high level. Progress stays in server memory and resets when Express restarts. Sources: server/routes/puzzles.js, server/controllers/puzzles.js, server/store.js. API documentation: https://documenter.getpostman.com/view/28699747/2sBYHNYPUM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GitHub collaboration as a challenge in keeping versions consistent across seven branches. Do not single out members or discuss private performance judgments. We used assigned member branches, reviewed changes, and synchronized accepted project versions. Sources: team agreements and the publication history recorded in private-docs/git-workflow.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Majed presents this slide. Suggested explanation: I organized the team around clear roles and short phases. We agreed on the story, API, and styling contracts before assigning practical tasks. I reviewed submissions and integrated accepted work into the shared project. Keep the explanation at this level and avoid task details or member performance discussions. Sources: user agreements, phase-1-agreement documents, and local project 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statement requested by the user: The Puzzle Lab team thanks you for listening. Invite questions. Logo source: user-supplied home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dea9dc313a48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6905316fd94147" /><Relationship Type="http://schemas.openxmlformats.org/officeDocument/2006/relationships/slideLayout" Target="/ppt/slideLayouts/slideLayout1.xml" Id="Rc6ff33431e9448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ff33431e9448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98f480a5b74b9b" /><Relationship Type="http://schemas.openxmlformats.org/officeDocument/2006/relationships/image" Target="/ppt/media/image.png" Id="R9b6625904c0c499f" /><Relationship Type="http://schemas.openxmlformats.org/officeDocument/2006/relationships/notesSlide" Target="/ppt/notesSlides/notesSlide1.xml" Id="R8a0e585c1efd47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fa81cb689a4715" /><Relationship Type="http://schemas.openxmlformats.org/officeDocument/2006/relationships/notesSlide" Target="/ppt/notesSlides/notesSlide2.xml" Id="Rb078eb16d74044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ef0579041a4e33" /><Relationship Type="http://schemas.openxmlformats.org/officeDocument/2006/relationships/image" Target="/ppt/media/image2.png" Id="R1557188fad824e90" /><Relationship Type="http://schemas.openxmlformats.org/officeDocument/2006/relationships/notesSlide" Target="/ppt/notesSlides/notesSlide3.xml" Id="R8e71694a5d364d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0ef8ddc4bc4270" /><Relationship Type="http://schemas.openxmlformats.org/officeDocument/2006/relationships/image" Target="/ppt/media/image3.png" Id="R6967994defbe41e4" /><Relationship Type="http://schemas.openxmlformats.org/officeDocument/2006/relationships/notesSlide" Target="/ppt/notesSlides/notesSlide4.xml" Id="R6a53e6c1770443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4fecaf0c314a50" /><Relationship Type="http://schemas.openxmlformats.org/officeDocument/2006/relationships/image" Target="/ppt/media/image4.png" Id="Rea97f60b2871490e" /><Relationship Type="http://schemas.openxmlformats.org/officeDocument/2006/relationships/notesSlide" Target="/ppt/notesSlides/notesSlide5.xml" Id="Rbe161e5100544d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18a340c55542a1" /><Relationship Type="http://schemas.openxmlformats.org/officeDocument/2006/relationships/image" Target="/ppt/media/image5.png" Id="Rc4baaff10e084cad" /><Relationship Type="http://schemas.openxmlformats.org/officeDocument/2006/relationships/notesSlide" Target="/ppt/notesSlides/notesSlide6.xml" Id="Rd5be7807e1eb43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397a26dc474577" /><Relationship Type="http://schemas.openxmlformats.org/officeDocument/2006/relationships/notesSlide" Target="/ppt/notesSlides/notesSlide7.xml" Id="R6413c3b0684840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75f8d5a0e94826" /><Relationship Type="http://schemas.openxmlformats.org/officeDocument/2006/relationships/notesSlide" Target="/ppt/notesSlides/notesSlide8.xml" Id="R4ce505c1982947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4e36df2a65497b" /><Relationship Type="http://schemas.openxmlformats.org/officeDocument/2006/relationships/notesSlide" Target="/ppt/notesSlides/notesSlide9.xml" Id="R598d09dbd8fe49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46bf5bd6854137" /><Relationship Type="http://schemas.openxmlformats.org/officeDocument/2006/relationships/image" Target="/ppt/media/image6.png" Id="R1470707063574640" /><Relationship Type="http://schemas.openxmlformats.org/officeDocument/2006/relationships/notesSlide" Target="/ppt/notesSlides/notesSlide10.xml" Id="Rd0a0c2cae2d4406a" /></Relationships>
</file>

<file path=ppt/slides/slide1.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b6625904c0c499f"/>
          <a:stretch xmlns:a="http://schemas.openxmlformats.org/drawingml/2006/main"/>
        </p:blipFill>
        <p:spPr>
          <a:xfrm xmlns:a="http://schemas.openxmlformats.org/drawingml/2006/main">
            <a:off x="914400" y="1714500"/>
            <a:ext cx="2762250" cy="1969382"/>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3DD5D6-6A1A-423F-ABF0-AE1409777519}"/>
              </a:ext>
            </a:extLst>
          </p:cNvPr>
          <p:cNvSpPr>
            <a:spLocks xmlns:a="http://schemas.openxmlformats.org/drawingml/2006/main" noGrp="1"/>
          </p:cNvSpPr>
          <p:nvPr/>
        </p:nvSpPr>
        <p:spPr>
          <a:xfrm xmlns:a="http://schemas.openxmlformats.org/drawingml/2006/main">
            <a:off x="4476750" y="1857375"/>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700" b="1">
                <a:solidFill>
                  <a:srgbClr val="F2EAD5"/>
                </a:solidFill>
                <a:latin typeface="Arial"/>
                <a:ea typeface="Arial"/>
                <a:cs typeface="Arial"/>
              </a:defRPr>
            </a:pPr>
            <a:r>
              <a:rPr sz="5700" b="1">
                <a:solidFill>
                  <a:srgbClr val="F2EAD5"/>
                </a:solidFill>
                <a:latin typeface="Arial"/>
                <a:ea typeface="Arial"/>
                <a:cs typeface="Arial"/>
              </a:rPr>
              <a:t>Puzzle Lab</a:t>
            </a:r>
          </a:p>
        </p:txBody>
      </p:sp>
      <p:sp>
        <p:nvSpPr>
          <p:cNvPr id="3" name="">
            <a:extLst xmlns:a="http://schemas.openxmlformats.org/drawingml/2006/main">
              <a:ext uri="{FF2B5EF4-FFF2-40B4-BE49-F238E27FC236}">
                <a16:creationId xmlns:a16="http://schemas.microsoft.com/office/drawing/2014/main" id="{796408CC-8349-40FD-9183-8557DC7EC5F0}"/>
              </a:ext>
            </a:extLst>
          </p:cNvPr>
          <p:cNvSpPr>
            <a:spLocks xmlns:a="http://schemas.openxmlformats.org/drawingml/2006/main" noGrp="1"/>
          </p:cNvSpPr>
          <p:nvPr/>
        </p:nvSpPr>
        <p:spPr>
          <a:xfrm xmlns:a="http://schemas.openxmlformats.org/drawingml/2006/main">
            <a:off x="4495800" y="31051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D4BE69"/>
                </a:solidFill>
                <a:latin typeface="Arial"/>
                <a:ea typeface="Arial"/>
                <a:cs typeface="Arial"/>
              </a:defRPr>
            </a:pPr>
            <a:r>
              <a:rPr sz="2400" b="0">
                <a:solidFill>
                  <a:srgbClr val="D4BE69"/>
                </a:solidFill>
                <a:latin typeface="Arial"/>
                <a:ea typeface="Arial"/>
                <a:cs typeface="Arial"/>
              </a:rPr>
              <a:t>Mini Project 01</a:t>
            </a:r>
          </a:p>
        </p:txBody>
      </p:sp>
      <p:sp>
        <p:nvSpPr>
          <p:cNvPr id="4" name="">
            <a:extLst xmlns:a="http://schemas.openxmlformats.org/drawingml/2006/main">
              <a:ext uri="{FF2B5EF4-FFF2-40B4-BE49-F238E27FC236}">
                <a16:creationId xmlns:a16="http://schemas.microsoft.com/office/drawing/2014/main" id="{7D5C58E3-DE72-4849-9A16-E1F4B532A767}"/>
              </a:ext>
            </a:extLst>
          </p:cNvPr>
          <p:cNvSpPr>
            <a:spLocks xmlns:a="http://schemas.openxmlformats.org/drawingml/2006/main" noGrp="1"/>
          </p:cNvSpPr>
          <p:nvPr/>
        </p:nvSpPr>
        <p:spPr>
          <a:xfrm xmlns:a="http://schemas.openxmlformats.org/drawingml/2006/main">
            <a:off x="4495800" y="36385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C5CDB7"/>
                </a:solidFill>
                <a:latin typeface="Arial"/>
                <a:ea typeface="Arial"/>
                <a:cs typeface="Arial"/>
              </a:defRPr>
            </a:pPr>
            <a:r>
              <a:rPr sz="2100" b="0">
                <a:solidFill>
                  <a:srgbClr val="C5CDB7"/>
                </a:solidFill>
                <a:latin typeface="Arial"/>
                <a:ea typeface="Arial"/>
                <a:cs typeface="Arial"/>
              </a:rPr>
              <a:t>Team 2</a:t>
            </a:r>
          </a:p>
        </p:txBody>
      </p:sp>
    </p:spTree>
    <p:extLst>
      <p:ext uri="{BB962C8B-B14F-4D97-AF65-F5344CB8AC3E}">
        <p14:creationId xmlns:p14="http://schemas.microsoft.com/office/powerpoint/2010/main" val="1166046664"/>
      </p:ext>
    </p:extLst>
  </p:cSld>
</p:sld>
</file>

<file path=ppt/slides/slide2.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0120F21-B5ED-4F94-A9BF-FFFCF8B7112E}"/>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9DDF8F91-9A0E-430D-BC7D-76E2DA197FE3}"/>
              </a:ext>
            </a:extLst>
          </p:cNvPr>
          <p:cNvSpPr>
            <a:spLocks xmlns:a="http://schemas.openxmlformats.org/drawingml/2006/main" noGrp="1"/>
          </p:cNvSpPr>
          <p:nvPr/>
        </p:nvSpPr>
        <p:spPr>
          <a:xfrm xmlns:a="http://schemas.openxmlformats.org/drawingml/2006/main">
            <a:off x="685800" y="1562100"/>
            <a:ext cx="981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F2EAD5"/>
                </a:solidFill>
                <a:latin typeface="Arial"/>
                <a:ea typeface="Arial"/>
                <a:cs typeface="Arial"/>
              </a:defRPr>
            </a:pPr>
            <a:r>
              <a:rPr sz="3450" b="1">
                <a:solidFill>
                  <a:srgbClr val="F2EAD5"/>
                </a:solidFill>
                <a:latin typeface="Arial"/>
                <a:ea typeface="Arial"/>
                <a:cs typeface="Arial"/>
              </a:rPr>
              <a:t>A browser puzzle game built with</a:t>
            </a:r>
          </a:p>
          <a:p xmlns:a="http://schemas.openxmlformats.org/drawingml/2006/main">
            <a:pPr algn="l">
              <a:defRPr sz="3450" b="1">
                <a:solidFill>
                  <a:srgbClr val="F2EAD5"/>
                </a:solidFill>
                <a:latin typeface="Arial"/>
                <a:ea typeface="Arial"/>
                <a:cs typeface="Arial"/>
              </a:defRPr>
            </a:pPr>
            <a:r>
              <a:rPr sz="3450" b="1">
                <a:solidFill>
                  <a:srgbClr val="F2EAD5"/>
                </a:solidFill>
                <a:latin typeface="Arial"/>
                <a:ea typeface="Arial"/>
                <a:cs typeface="Arial"/>
              </a:rPr>
              <a:t>React and Express</a:t>
            </a:r>
          </a:p>
        </p:txBody>
      </p:sp>
      <p:sp>
        <p:nvSpPr>
          <p:cNvPr id="3" name="">
            <a:extLst xmlns:a="http://schemas.openxmlformats.org/drawingml/2006/main">
              <a:ext uri="{FF2B5EF4-FFF2-40B4-BE49-F238E27FC236}">
                <a16:creationId xmlns:a16="http://schemas.microsoft.com/office/drawing/2014/main" id="{7D17ED3F-352D-403C-8F3E-C1C54E938F71}"/>
              </a:ext>
            </a:extLst>
          </p:cNvPr>
          <p:cNvSpPr>
            <a:spLocks xmlns:a="http://schemas.openxmlformats.org/drawingml/2006/main" noGrp="1"/>
          </p:cNvSpPr>
          <p:nvPr/>
        </p:nvSpPr>
        <p:spPr>
          <a:xfrm xmlns:a="http://schemas.openxmlformats.org/drawingml/2006/main">
            <a:off x="685800" y="3028950"/>
            <a:ext cx="1000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C5CDB7"/>
                </a:solidFill>
                <a:latin typeface="Arial"/>
                <a:ea typeface="Arial"/>
                <a:cs typeface="Arial"/>
              </a:defRPr>
            </a:pPr>
            <a:r>
              <a:rPr sz="2250" b="0">
                <a:solidFill>
                  <a:srgbClr val="C5CDB7"/>
                </a:solidFill>
                <a:latin typeface="Arial"/>
                <a:ea typeface="Arial"/>
                <a:cs typeface="Arial"/>
              </a:rPr>
              <a:t>Players investigate clues, submit answers, and reveal</a:t>
            </a:r>
          </a:p>
          <a:p xmlns:a="http://schemas.openxmlformats.org/drawingml/2006/main">
            <a:pPr algn="l">
              <a:defRPr sz="2250" b="0">
                <a:solidFill>
                  <a:srgbClr val="C5CDB7"/>
                </a:solidFill>
                <a:latin typeface="Arial"/>
                <a:ea typeface="Arial"/>
                <a:cs typeface="Arial"/>
              </a:defRPr>
            </a:pPr>
            <a:r>
              <a:rPr sz="2250" b="0">
                <a:solidFill>
                  <a:srgbClr val="C5CDB7"/>
                </a:solidFill>
                <a:latin typeface="Arial"/>
                <a:ea typeface="Arial"/>
                <a:cs typeface="Arial"/>
              </a:rPr>
              <a:t>hints to complete the puzzles in order.</a:t>
            </a:r>
          </a:p>
        </p:txBody>
      </p:sp>
      <p:sp>
        <p:nvSpPr>
          <p:cNvPr id="4" name="">
            <a:extLst xmlns:a="http://schemas.openxmlformats.org/drawingml/2006/main">
              <a:ext uri="{FF2B5EF4-FFF2-40B4-BE49-F238E27FC236}">
                <a16:creationId xmlns:a16="http://schemas.microsoft.com/office/drawing/2014/main" id="{2C320F0E-F7B2-42B4-92CF-AE2FE5D6D8F0}"/>
              </a:ext>
            </a:extLst>
          </p:cNvPr>
          <p:cNvSpPr>
            <a:spLocks xmlns:a="http://schemas.openxmlformats.org/drawingml/2006/main" noGrp="1"/>
          </p:cNvSpPr>
          <p:nvPr/>
        </p:nvSpPr>
        <p:spPr>
          <a:xfrm xmlns:a="http://schemas.openxmlformats.org/drawingml/2006/main">
            <a:off x="685800" y="4781550"/>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1">
                <a:solidFill>
                  <a:srgbClr val="D4BE69"/>
                </a:solidFill>
                <a:latin typeface="Arial"/>
                <a:ea typeface="Arial"/>
                <a:cs typeface="Arial"/>
              </a:defRPr>
            </a:pPr>
            <a:r>
              <a:rPr sz="5100" b="1">
                <a:solidFill>
                  <a:srgbClr val="D4BE69"/>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D8DA8A3C-085C-49F4-8479-1DF6AA19A63C}"/>
              </a:ext>
            </a:extLst>
          </p:cNvPr>
          <p:cNvSpPr>
            <a:spLocks xmlns:a="http://schemas.openxmlformats.org/drawingml/2006/main" noGrp="1"/>
          </p:cNvSpPr>
          <p:nvPr/>
        </p:nvSpPr>
        <p:spPr>
          <a:xfrm xmlns:a="http://schemas.openxmlformats.org/drawingml/2006/main">
            <a:off x="685800" y="56197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2EAD5"/>
                </a:solidFill>
                <a:latin typeface="Arial"/>
                <a:ea typeface="Arial"/>
                <a:cs typeface="Arial"/>
              </a:defRPr>
            </a:pPr>
            <a:r>
              <a:rPr sz="2025" b="0">
                <a:solidFill>
                  <a:srgbClr val="F2EAD5"/>
                </a:solidFill>
                <a:latin typeface="Arial"/>
                <a:ea typeface="Arial"/>
                <a:cs typeface="Arial"/>
              </a:rPr>
              <a:t>puzzles</a:t>
            </a:r>
          </a:p>
        </p:txBody>
      </p:sp>
      <p:sp>
        <p:nvSpPr>
          <p:cNvPr id="6" name="">
            <a:extLst xmlns:a="http://schemas.openxmlformats.org/drawingml/2006/main">
              <a:ext uri="{FF2B5EF4-FFF2-40B4-BE49-F238E27FC236}">
                <a16:creationId xmlns:a16="http://schemas.microsoft.com/office/drawing/2014/main" id="{E24280BC-0568-49AB-8F4C-C9830B65C2C9}"/>
              </a:ext>
            </a:extLst>
          </p:cNvPr>
          <p:cNvSpPr>
            <a:spLocks xmlns:a="http://schemas.openxmlformats.org/drawingml/2006/main" noGrp="1"/>
          </p:cNvSpPr>
          <p:nvPr/>
        </p:nvSpPr>
        <p:spPr>
          <a:xfrm xmlns:a="http://schemas.openxmlformats.org/drawingml/2006/main">
            <a:off x="4619625" y="4781550"/>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1">
                <a:solidFill>
                  <a:srgbClr val="D4BE69"/>
                </a:solidFill>
                <a:latin typeface="Arial"/>
                <a:ea typeface="Arial"/>
                <a:cs typeface="Arial"/>
              </a:defRPr>
            </a:pPr>
            <a:r>
              <a:rPr sz="5100" b="1">
                <a:solidFill>
                  <a:srgbClr val="D4BE69"/>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3B65EDAF-2AE9-4A43-928B-FA60F4DBF7AE}"/>
              </a:ext>
            </a:extLst>
          </p:cNvPr>
          <p:cNvSpPr>
            <a:spLocks xmlns:a="http://schemas.openxmlformats.org/drawingml/2006/main" noGrp="1"/>
          </p:cNvSpPr>
          <p:nvPr/>
        </p:nvSpPr>
        <p:spPr>
          <a:xfrm xmlns:a="http://schemas.openxmlformats.org/drawingml/2006/main">
            <a:off x="4619625" y="56197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2EAD5"/>
                </a:solidFill>
                <a:latin typeface="Arial"/>
                <a:ea typeface="Arial"/>
                <a:cs typeface="Arial"/>
              </a:defRPr>
            </a:pPr>
            <a:r>
              <a:rPr sz="2025" b="0">
                <a:solidFill>
                  <a:srgbClr val="F2EAD5"/>
                </a:solidFill>
                <a:latin typeface="Arial"/>
                <a:ea typeface="Arial"/>
                <a:cs typeface="Arial"/>
              </a:rPr>
              <a:t>stages</a:t>
            </a:r>
          </a:p>
        </p:txBody>
      </p:sp>
      <p:sp>
        <p:nvSpPr>
          <p:cNvPr id="8" name="">
            <a:extLst xmlns:a="http://schemas.openxmlformats.org/drawingml/2006/main">
              <a:ext uri="{FF2B5EF4-FFF2-40B4-BE49-F238E27FC236}">
                <a16:creationId xmlns:a16="http://schemas.microsoft.com/office/drawing/2014/main" id="{31DFA0B6-11B2-4210-961A-77D2EE89A416}"/>
              </a:ext>
            </a:extLst>
          </p:cNvPr>
          <p:cNvSpPr>
            <a:spLocks xmlns:a="http://schemas.openxmlformats.org/drawingml/2006/main" noGrp="1"/>
          </p:cNvSpPr>
          <p:nvPr/>
        </p:nvSpPr>
        <p:spPr>
          <a:xfrm xmlns:a="http://schemas.openxmlformats.org/drawingml/2006/main">
            <a:off x="8572500" y="4781550"/>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1">
                <a:solidFill>
                  <a:srgbClr val="D4BE69"/>
                </a:solidFill>
                <a:latin typeface="Arial"/>
                <a:ea typeface="Arial"/>
                <a:cs typeface="Arial"/>
              </a:defRPr>
            </a:pPr>
            <a:r>
              <a:rPr sz="5100" b="1">
                <a:solidFill>
                  <a:srgbClr val="D4BE6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5488EF39-7D19-4482-8FFC-7B7B7DC3C5DA}"/>
              </a:ext>
            </a:extLst>
          </p:cNvPr>
          <p:cNvSpPr>
            <a:spLocks xmlns:a="http://schemas.openxmlformats.org/drawingml/2006/main" noGrp="1"/>
          </p:cNvSpPr>
          <p:nvPr/>
        </p:nvSpPr>
        <p:spPr>
          <a:xfrm xmlns:a="http://schemas.openxmlformats.org/drawingml/2006/main">
            <a:off x="8572500" y="5619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2EAD5"/>
                </a:solidFill>
                <a:latin typeface="Arial"/>
                <a:ea typeface="Arial"/>
                <a:cs typeface="Arial"/>
              </a:defRPr>
            </a:pPr>
            <a:r>
              <a:rPr sz="2025" b="0">
                <a:solidFill>
                  <a:srgbClr val="F2EAD5"/>
                </a:solidFill>
                <a:latin typeface="Arial"/>
                <a:ea typeface="Arial"/>
                <a:cs typeface="Arial"/>
              </a:rPr>
              <a:t>hints per stage</a:t>
            </a:r>
          </a:p>
        </p:txBody>
      </p:sp>
    </p:spTree>
    <p:extLst>
      <p:ext uri="{BB962C8B-B14F-4D97-AF65-F5344CB8AC3E}">
        <p14:creationId xmlns:p14="http://schemas.microsoft.com/office/powerpoint/2010/main" val="1968299445"/>
      </p:ext>
    </p:extLst>
  </p:cSld>
</p:sld>
</file>

<file path=ppt/slides/slide3.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844CE6-8145-4609-8E3B-D86C3F005C1B}"/>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Frontend: Home</a:t>
            </a:r>
          </a:p>
        </p:txBody>
      </p:sp>
      <p:sp>
        <p:nvSpPr>
          <p:cNvPr id="2" name="">
            <a:extLst xmlns:a="http://schemas.openxmlformats.org/drawingml/2006/main">
              <a:ext uri="{FF2B5EF4-FFF2-40B4-BE49-F238E27FC236}">
                <a16:creationId xmlns:a16="http://schemas.microsoft.com/office/drawing/2014/main" id="{48E703D9-B40C-426E-BEC4-B0C8F7C9938D}"/>
              </a:ext>
            </a:extLst>
          </p:cNvPr>
          <p:cNvSpPr>
            <a:spLocks xmlns:a="http://schemas.openxmlformats.org/drawingml/2006/main" noGrp="1"/>
          </p:cNvSpPr>
          <p:nvPr/>
        </p:nvSpPr>
        <p:spPr>
          <a:xfrm xmlns:a="http://schemas.openxmlformats.org/drawingml/2006/main">
            <a:off x="685800" y="1714500"/>
            <a:ext cx="2457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Three levels,</a:t>
            </a:r>
          </a:p>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one starting point</a:t>
            </a:r>
          </a:p>
        </p:txBody>
      </p:sp>
      <p:sp>
        <p:nvSpPr>
          <p:cNvPr id="3" name="">
            <a:extLst xmlns:a="http://schemas.openxmlformats.org/drawingml/2006/main">
              <a:ext uri="{FF2B5EF4-FFF2-40B4-BE49-F238E27FC236}">
                <a16:creationId xmlns:a16="http://schemas.microsoft.com/office/drawing/2014/main" id="{F9A9EF31-9D75-44BF-8B5E-B535561910EF}"/>
              </a:ext>
            </a:extLst>
          </p:cNvPr>
          <p:cNvSpPr>
            <a:spLocks xmlns:a="http://schemas.openxmlformats.org/drawingml/2006/main" noGrp="1"/>
          </p:cNvSpPr>
          <p:nvPr/>
        </p:nvSpPr>
        <p:spPr>
          <a:xfrm xmlns:a="http://schemas.openxmlformats.org/drawingml/2006/main">
            <a:off x="685800" y="314325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Easy, Medium, and Hard</a:t>
            </a:r>
          </a:p>
          <a:p xmlns:a="http://schemas.openxmlformats.org/drawingml/2006/main">
            <a:r>
              <a:t/>
            </a:r>
          </a:p>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Each solved puzzle unlocks the next level.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557188fad824e90"/>
          <a:stretch xmlns:a="http://schemas.openxmlformats.org/drawingml/2006/main"/>
        </p:blipFill>
        <p:spPr>
          <a:xfrm xmlns:a="http://schemas.openxmlformats.org/drawingml/2006/main">
            <a:off x="3371850" y="1276841"/>
            <a:ext cx="8134350" cy="5294917"/>
          </a:xfrm>
          <a:prstGeom xmlns:a="http://schemas.openxmlformats.org/drawingml/2006/main" prst="rect">
            <a:avLst/>
          </a:prstGeom>
        </p:spPr>
      </p:pic>
    </p:spTree>
    <p:extLst>
      <p:ext uri="{BB962C8B-B14F-4D97-AF65-F5344CB8AC3E}">
        <p14:creationId xmlns:p14="http://schemas.microsoft.com/office/powerpoint/2010/main" val="1274029813"/>
      </p:ext>
    </p:extLst>
  </p:cSld>
</p:sld>
</file>

<file path=ppt/slides/slide4.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32206D-300A-4CC8-9BF4-D56539DB5FE2}"/>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Frontend: How to Play</a:t>
            </a:r>
          </a:p>
        </p:txBody>
      </p:sp>
      <p:sp>
        <p:nvSpPr>
          <p:cNvPr id="2" name="">
            <a:extLst xmlns:a="http://schemas.openxmlformats.org/drawingml/2006/main">
              <a:ext uri="{FF2B5EF4-FFF2-40B4-BE49-F238E27FC236}">
                <a16:creationId xmlns:a16="http://schemas.microsoft.com/office/drawing/2014/main" id="{6FA1072D-9F88-4E08-B88A-F94CCC71E1D8}"/>
              </a:ext>
            </a:extLst>
          </p:cNvPr>
          <p:cNvSpPr>
            <a:spLocks xmlns:a="http://schemas.openxmlformats.org/drawingml/2006/main" noGrp="1"/>
          </p:cNvSpPr>
          <p:nvPr/>
        </p:nvSpPr>
        <p:spPr>
          <a:xfrm xmlns:a="http://schemas.openxmlformats.org/drawingml/2006/main">
            <a:off x="685800" y="1714500"/>
            <a:ext cx="2457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A clear guide</a:t>
            </a:r>
          </a:p>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for new players</a:t>
            </a:r>
          </a:p>
        </p:txBody>
      </p:sp>
      <p:sp>
        <p:nvSpPr>
          <p:cNvPr id="3" name="">
            <a:extLst xmlns:a="http://schemas.openxmlformats.org/drawingml/2006/main">
              <a:ext uri="{FF2B5EF4-FFF2-40B4-BE49-F238E27FC236}">
                <a16:creationId xmlns:a16="http://schemas.microsoft.com/office/drawing/2014/main" id="{B661A7EE-68D1-413C-A1E5-E0B9B98734EA}"/>
              </a:ext>
            </a:extLst>
          </p:cNvPr>
          <p:cNvSpPr>
            <a:spLocks xmlns:a="http://schemas.openxmlformats.org/drawingml/2006/main" noGrp="1"/>
          </p:cNvSpPr>
          <p:nvPr/>
        </p:nvSpPr>
        <p:spPr>
          <a:xfrm xmlns:a="http://schemas.openxmlformats.org/drawingml/2006/main">
            <a:off x="685800" y="314325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Five short steps explain the journey before play begins.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967994defbe41e4"/>
          <a:stretch xmlns:a="http://schemas.openxmlformats.org/drawingml/2006/main"/>
        </p:blipFill>
        <p:spPr>
          <a:xfrm xmlns:a="http://schemas.openxmlformats.org/drawingml/2006/main">
            <a:off x="3371850" y="1276841"/>
            <a:ext cx="8134350" cy="5294917"/>
          </a:xfrm>
          <a:prstGeom xmlns:a="http://schemas.openxmlformats.org/drawingml/2006/main" prst="rect">
            <a:avLst/>
          </a:prstGeom>
        </p:spPr>
      </p:pic>
    </p:spTree>
    <p:extLst>
      <p:ext uri="{BB962C8B-B14F-4D97-AF65-F5344CB8AC3E}">
        <p14:creationId xmlns:p14="http://schemas.microsoft.com/office/powerpoint/2010/main" val="984070919"/>
      </p:ext>
    </p:extLst>
  </p:cSld>
</p:sld>
</file>

<file path=ppt/slides/slide5.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C03004-8FDE-44A9-BF30-7ADDBF9A39DB}"/>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Frontend: Gameplay</a:t>
            </a:r>
          </a:p>
        </p:txBody>
      </p:sp>
      <p:sp>
        <p:nvSpPr>
          <p:cNvPr id="2" name="">
            <a:extLst xmlns:a="http://schemas.openxmlformats.org/drawingml/2006/main">
              <a:ext uri="{FF2B5EF4-FFF2-40B4-BE49-F238E27FC236}">
                <a16:creationId xmlns:a16="http://schemas.microsoft.com/office/drawing/2014/main" id="{454D9926-1683-4829-8271-0581D9765F34}"/>
              </a:ext>
            </a:extLst>
          </p:cNvPr>
          <p:cNvSpPr>
            <a:spLocks xmlns:a="http://schemas.openxmlformats.org/drawingml/2006/main" noGrp="1"/>
          </p:cNvSpPr>
          <p:nvPr/>
        </p:nvSpPr>
        <p:spPr>
          <a:xfrm xmlns:a="http://schemas.openxmlformats.org/drawingml/2006/main">
            <a:off x="685800" y="1714500"/>
            <a:ext cx="2457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Evidence and</a:t>
            </a:r>
          </a:p>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answers together</a:t>
            </a:r>
          </a:p>
        </p:txBody>
      </p:sp>
      <p:sp>
        <p:nvSpPr>
          <p:cNvPr id="3" name="">
            <a:extLst xmlns:a="http://schemas.openxmlformats.org/drawingml/2006/main">
              <a:ext uri="{FF2B5EF4-FFF2-40B4-BE49-F238E27FC236}">
                <a16:creationId xmlns:a16="http://schemas.microsoft.com/office/drawing/2014/main" id="{D987B016-B432-4CC3-958C-382486C5A33F}"/>
              </a:ext>
            </a:extLst>
          </p:cNvPr>
          <p:cNvSpPr>
            <a:spLocks xmlns:a="http://schemas.openxmlformats.org/drawingml/2006/main" noGrp="1"/>
          </p:cNvSpPr>
          <p:nvPr/>
        </p:nvSpPr>
        <p:spPr>
          <a:xfrm xmlns:a="http://schemas.openxmlformats.org/drawingml/2006/main">
            <a:off x="685800" y="314325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The story and clues guide each stage.</a:t>
            </a:r>
          </a:p>
          <a:p xmlns:a="http://schemas.openxmlformats.org/drawingml/2006/main">
            <a:r>
              <a:t/>
            </a:r>
          </a:p>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Hints offer help when the player needs it.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a97f60b2871490e"/>
          <a:stretch xmlns:a="http://schemas.openxmlformats.org/drawingml/2006/main"/>
        </p:blipFill>
        <p:spPr>
          <a:xfrm xmlns:a="http://schemas.openxmlformats.org/drawingml/2006/main">
            <a:off x="3371850" y="1276841"/>
            <a:ext cx="8134350" cy="5294917"/>
          </a:xfrm>
          <a:prstGeom xmlns:a="http://schemas.openxmlformats.org/drawingml/2006/main" prst="rect">
            <a:avLst/>
          </a:prstGeom>
        </p:spPr>
      </p:pic>
    </p:spTree>
    <p:extLst>
      <p:ext uri="{BB962C8B-B14F-4D97-AF65-F5344CB8AC3E}">
        <p14:creationId xmlns:p14="http://schemas.microsoft.com/office/powerpoint/2010/main" val="1907363072"/>
      </p:ext>
    </p:extLst>
  </p:cSld>
</p:sld>
</file>

<file path=ppt/slides/slide6.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4410AD-FC34-4624-BF90-F1B8743BAE9A}"/>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Frontend: Final Reveal</a:t>
            </a:r>
          </a:p>
        </p:txBody>
      </p:sp>
      <p:sp>
        <p:nvSpPr>
          <p:cNvPr id="2" name="">
            <a:extLst xmlns:a="http://schemas.openxmlformats.org/drawingml/2006/main">
              <a:ext uri="{FF2B5EF4-FFF2-40B4-BE49-F238E27FC236}">
                <a16:creationId xmlns:a16="http://schemas.microsoft.com/office/drawing/2014/main" id="{9D16D2EA-4736-4485-9EE3-0EE45786BE96}"/>
              </a:ext>
            </a:extLst>
          </p:cNvPr>
          <p:cNvSpPr>
            <a:spLocks xmlns:a="http://schemas.openxmlformats.org/drawingml/2006/main" noGrp="1"/>
          </p:cNvSpPr>
          <p:nvPr/>
        </p:nvSpPr>
        <p:spPr>
          <a:xfrm xmlns:a="http://schemas.openxmlformats.org/drawingml/2006/main">
            <a:off x="685800" y="1714500"/>
            <a:ext cx="2457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A clear ending</a:t>
            </a:r>
          </a:p>
          <a:p xmlns:a="http://schemas.openxmlformats.org/drawingml/2006/main">
            <a:pPr algn="l">
              <a:defRPr sz="2325" b="1">
                <a:solidFill>
                  <a:srgbClr val="D4BE69"/>
                </a:solidFill>
                <a:latin typeface="Arial"/>
                <a:ea typeface="Arial"/>
                <a:cs typeface="Arial"/>
              </a:defRPr>
            </a:pPr>
            <a:r>
              <a:rPr sz="2325" b="1">
                <a:solidFill>
                  <a:srgbClr val="D4BE69"/>
                </a:solidFill>
                <a:latin typeface="Arial"/>
                <a:ea typeface="Arial"/>
                <a:cs typeface="Arial"/>
              </a:rPr>
              <a:t>for each puzzle</a:t>
            </a:r>
          </a:p>
        </p:txBody>
      </p:sp>
      <p:sp>
        <p:nvSpPr>
          <p:cNvPr id="3" name="">
            <a:extLst xmlns:a="http://schemas.openxmlformats.org/drawingml/2006/main">
              <a:ext uri="{FF2B5EF4-FFF2-40B4-BE49-F238E27FC236}">
                <a16:creationId xmlns:a16="http://schemas.microsoft.com/office/drawing/2014/main" id="{2C7B9A9B-B745-4569-BF75-469D8CC1736B}"/>
              </a:ext>
            </a:extLst>
          </p:cNvPr>
          <p:cNvSpPr>
            <a:spLocks xmlns:a="http://schemas.openxmlformats.org/drawingml/2006/main" noGrp="1"/>
          </p:cNvSpPr>
          <p:nvPr/>
        </p:nvSpPr>
        <p:spPr>
          <a:xfrm xmlns:a="http://schemas.openxmlformats.org/drawingml/2006/main">
            <a:off x="685800" y="3143250"/>
            <a:ext cx="24574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The final answer reveals the ending.</a:t>
            </a:r>
          </a:p>
          <a:p xmlns:a="http://schemas.openxmlformats.org/drawingml/2006/main">
            <a:r>
              <a:t/>
            </a:r>
          </a:p>
          <a:p xmlns:a="http://schemas.openxmlformats.org/drawingml/2006/main">
            <a:pPr algn="l">
              <a:defRPr sz="1875" b="0">
                <a:solidFill>
                  <a:srgbClr val="C5CDB7"/>
                </a:solidFill>
                <a:latin typeface="Arial"/>
                <a:ea typeface="Arial"/>
                <a:cs typeface="Arial"/>
              </a:defRPr>
            </a:pPr>
            <a:r>
              <a:rPr sz="1875" b="0">
                <a:solidFill>
                  <a:srgbClr val="C5CDB7"/>
                </a:solidFill>
                <a:latin typeface="Arial"/>
                <a:ea typeface="Arial"/>
                <a:cs typeface="Arial"/>
              </a:rPr>
              <a:t>Players continue to the next puzzle or return home.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4baaff10e084cad"/>
          <a:stretch xmlns:a="http://schemas.openxmlformats.org/drawingml/2006/main"/>
        </p:blipFill>
        <p:spPr>
          <a:xfrm xmlns:a="http://schemas.openxmlformats.org/drawingml/2006/main">
            <a:off x="3371850" y="1276841"/>
            <a:ext cx="8134350" cy="5294917"/>
          </a:xfrm>
          <a:prstGeom xmlns:a="http://schemas.openxmlformats.org/drawingml/2006/main" prst="rect">
            <a:avLst/>
          </a:prstGeom>
        </p:spPr>
      </p:pic>
    </p:spTree>
    <p:extLst>
      <p:ext uri="{BB962C8B-B14F-4D97-AF65-F5344CB8AC3E}">
        <p14:creationId xmlns:p14="http://schemas.microsoft.com/office/powerpoint/2010/main" val="816947958"/>
      </p:ext>
    </p:extLst>
  </p:cSld>
</p:sld>
</file>

<file path=ppt/slides/slide7.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B8586B-D4E1-4D6D-9E47-FEBA6B121A90}"/>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Backend: Five APIs</a:t>
            </a:r>
          </a:p>
        </p:txBody>
      </p:sp>
      <p:sp>
        <p:nvSpPr>
          <p:cNvPr id="2" name="">
            <a:extLst xmlns:a="http://schemas.openxmlformats.org/drawingml/2006/main">
              <a:ext uri="{FF2B5EF4-FFF2-40B4-BE49-F238E27FC236}">
                <a16:creationId xmlns:a16="http://schemas.microsoft.com/office/drawing/2014/main" id="{055D7DCD-1AF4-4CB6-BC5F-EBFB5697E84E}"/>
              </a:ext>
            </a:extLst>
          </p:cNvPr>
          <p:cNvSpPr>
            <a:spLocks xmlns:a="http://schemas.openxmlformats.org/drawingml/2006/main" noGrp="1"/>
          </p:cNvSpPr>
          <p:nvPr/>
        </p:nvSpPr>
        <p:spPr>
          <a:xfrm xmlns:a="http://schemas.openxmlformats.org/drawingml/2006/main">
            <a:off x="685800" y="1238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C5CDB7"/>
                </a:solidFill>
                <a:latin typeface="Arial"/>
                <a:ea typeface="Arial"/>
                <a:cs typeface="Arial"/>
              </a:defRPr>
            </a:pPr>
            <a:r>
              <a:rPr sz="2175" b="0">
                <a:solidFill>
                  <a:srgbClr val="C5CDB7"/>
                </a:solidFill>
                <a:latin typeface="Arial"/>
                <a:ea typeface="Arial"/>
                <a:cs typeface="Arial"/>
              </a:rPr>
              <a:t>Express validates requests and owns game progress</a:t>
            </a:r>
          </a:p>
        </p:txBody>
      </p:sp>
      <p:graphicFrame>
        <p:nvGraphicFramePr>
          <p:cNvPr id="7" name=""/>
          <p:cNvGraphicFramePr/>
          <p:nvPr/>
        </p:nvGraphicFramePr>
        <p:xfrm>
          <a:off xmlns:a="http://schemas.openxmlformats.org/drawingml/2006/main" x="685800" y="2066925"/>
          <a:ext xmlns:a="http://schemas.openxmlformats.org/drawingml/2006/main" cx="10820400" cy="3581400"/>
        </p:xfrm>
        <a:graphic xmlns:a="http://schemas.openxmlformats.org/drawingml/2006/main">
          <a:graphicData uri="http://schemas.openxmlformats.org/drawingml/2006/table">
            <a:tbl>
              <a:tblPr firstRow="0" bandRow="0"/>
              <a:tblGrid>
                <a:gridCol w="1219200"/>
                <a:gridCol w="5353050"/>
                <a:gridCol w="4248150"/>
              </a:tblGrid>
              <a:tr h="596900">
                <a:tc>
                  <a:txBody>
                    <a:bodyPr/>
                    <a:lstStyle/>
                    <a:p>
                      <a:r>
                        <a:rPr sz="1875" b="1">
                          <a:solidFill>
                            <a:srgbClr val="D4BE69"/>
                          </a:solidFill>
                          <a:latin typeface="Arial"/>
                          <a:ea typeface="Arial"/>
                          <a:cs typeface="Arial"/>
                        </a:rPr>
                        <a:t>Method</a:t>
                      </a:r>
                    </a:p>
                  </a:txBody>
                  <a:tcPr marL="133350" marR="114300" marT="114300" marB="95250">
                    <a:solidFill>
                      <a:srgbClr val="102B1C"/>
                    </a:solidFill>
                  </a:tcPr>
                </a:tc>
                <a:tc>
                  <a:txBody>
                    <a:bodyPr/>
                    <a:lstStyle/>
                    <a:p>
                      <a:r>
                        <a:rPr sz="1875" b="1">
                          <a:solidFill>
                            <a:srgbClr val="D4BE69"/>
                          </a:solidFill>
                          <a:latin typeface="Arial"/>
                          <a:ea typeface="Arial"/>
                          <a:cs typeface="Arial"/>
                        </a:rPr>
                        <a:t>Endpoint</a:t>
                      </a:r>
                    </a:p>
                  </a:txBody>
                  <a:tcPr marL="133350" marR="114300" marT="114300" marB="95250">
                    <a:solidFill>
                      <a:srgbClr val="102B1C"/>
                    </a:solidFill>
                  </a:tcPr>
                </a:tc>
                <a:tc>
                  <a:txBody>
                    <a:bodyPr/>
                    <a:lstStyle/>
                    <a:p>
                      <a:r>
                        <a:rPr sz="1875" b="1">
                          <a:solidFill>
                            <a:srgbClr val="D4BE69"/>
                          </a:solidFill>
                          <a:latin typeface="Arial"/>
                          <a:ea typeface="Arial"/>
                          <a:cs typeface="Arial"/>
                        </a:rPr>
                        <a:t>Purpose</a:t>
                      </a:r>
                    </a:p>
                  </a:txBody>
                  <a:tcPr marL="133350" marR="114300" marT="114300" marB="95250">
                    <a:solidFill>
                      <a:srgbClr val="102B1C"/>
                    </a:solidFill>
                  </a:tcPr>
                </a:tc>
              </a:tr>
              <a:tr h="596900">
                <a:tc>
                  <a:txBody>
                    <a:bodyPr/>
                    <a:lstStyle/>
                    <a:p>
                      <a:r>
                        <a:rPr sz="1875">
                          <a:solidFill>
                            <a:srgbClr val="F2EAD5"/>
                          </a:solidFill>
                          <a:latin typeface="Arial"/>
                          <a:ea typeface="Arial"/>
                          <a:cs typeface="Arial"/>
                        </a:rPr>
                        <a:t>GET</a:t>
                      </a:r>
                    </a:p>
                  </a:txBody>
                  <a:tcPr marL="133350" marR="114300" marT="114300" marB="95250">
                    <a:solidFill>
                      <a:srgbClr val="102B1C"/>
                    </a:solidFill>
                  </a:tcPr>
                </a:tc>
                <a:tc>
                  <a:txBody>
                    <a:bodyPr/>
                    <a:lstStyle/>
                    <a:p>
                      <a:r>
                        <a:rPr sz="1875">
                          <a:solidFill>
                            <a:srgbClr val="F2EAD5"/>
                          </a:solidFill>
                          <a:latin typeface="Arial"/>
                          <a:ea typeface="Arial"/>
                          <a:cs typeface="Arial"/>
                        </a:rPr>
                        <a:t>/getAllPuzzles</a:t>
                      </a:r>
                    </a:p>
                  </a:txBody>
                  <a:tcPr marL="133350" marR="114300" marT="114300" marB="95250">
                    <a:solidFill>
                      <a:srgbClr val="102B1C"/>
                    </a:solidFill>
                  </a:tcPr>
                </a:tc>
                <a:tc>
                  <a:txBody>
                    <a:bodyPr/>
                    <a:lstStyle/>
                    <a:p>
                      <a:r>
                        <a:rPr sz="1875">
                          <a:solidFill>
                            <a:srgbClr val="F2EAD5"/>
                          </a:solidFill>
                          <a:latin typeface="Arial"/>
                          <a:ea typeface="Arial"/>
                          <a:cs typeface="Arial"/>
                        </a:rPr>
                        <a:t>List puzzle summaries</a:t>
                      </a:r>
                    </a:p>
                  </a:txBody>
                  <a:tcPr marL="133350" marR="114300" marT="114300" marB="95250">
                    <a:solidFill>
                      <a:srgbClr val="102B1C"/>
                    </a:solidFill>
                  </a:tcPr>
                </a:tc>
              </a:tr>
              <a:tr h="596900">
                <a:tc>
                  <a:txBody>
                    <a:bodyPr/>
                    <a:lstStyle/>
                    <a:p>
                      <a:r>
                        <a:rPr sz="1875">
                          <a:solidFill>
                            <a:srgbClr val="F2EAD5"/>
                          </a:solidFill>
                          <a:latin typeface="Arial"/>
                          <a:ea typeface="Arial"/>
                          <a:cs typeface="Arial"/>
                        </a:rPr>
                        <a:t>GET</a:t>
                      </a:r>
                    </a:p>
                  </a:txBody>
                  <a:tcPr marL="133350" marR="114300" marT="114300" marB="95250">
                    <a:solidFill>
                      <a:srgbClr val="102B1C"/>
                    </a:solidFill>
                  </a:tcPr>
                </a:tc>
                <a:tc>
                  <a:txBody>
                    <a:bodyPr/>
                    <a:lstStyle/>
                    <a:p>
                      <a:r>
                        <a:rPr sz="1875">
                          <a:solidFill>
                            <a:srgbClr val="F2EAD5"/>
                          </a:solidFill>
                          <a:latin typeface="Arial"/>
                          <a:ea typeface="Arial"/>
                          <a:cs typeface="Arial"/>
                        </a:rPr>
                        <a:t>/getPuzzleById/:id</a:t>
                      </a:r>
                    </a:p>
                  </a:txBody>
                  <a:tcPr marL="133350" marR="114300" marT="114300" marB="95250">
                    <a:solidFill>
                      <a:srgbClr val="102B1C"/>
                    </a:solidFill>
                  </a:tcPr>
                </a:tc>
                <a:tc>
                  <a:txBody>
                    <a:bodyPr/>
                    <a:lstStyle/>
                    <a:p>
                      <a:r>
                        <a:rPr sz="1875">
                          <a:solidFill>
                            <a:srgbClr val="F2EAD5"/>
                          </a:solidFill>
                          <a:latin typeface="Arial"/>
                          <a:ea typeface="Arial"/>
                          <a:cs typeface="Arial"/>
                        </a:rPr>
                        <a:t>Load the current stage</a:t>
                      </a:r>
                    </a:p>
                  </a:txBody>
                  <a:tcPr marL="133350" marR="114300" marT="114300" marB="95250">
                    <a:solidFill>
                      <a:srgbClr val="102B1C"/>
                    </a:solidFill>
                  </a:tcPr>
                </a:tc>
              </a:tr>
              <a:tr h="596900">
                <a:tc>
                  <a:txBody>
                    <a:bodyPr/>
                    <a:lstStyle/>
                    <a:p>
                      <a:r>
                        <a:rPr sz="1875">
                          <a:solidFill>
                            <a:srgbClr val="F2EAD5"/>
                          </a:solidFill>
                          <a:latin typeface="Arial"/>
                          <a:ea typeface="Arial"/>
                          <a:cs typeface="Arial"/>
                        </a:rPr>
                        <a:t>GET</a:t>
                      </a:r>
                    </a:p>
                  </a:txBody>
                  <a:tcPr marL="133350" marR="114300" marT="114300" marB="95250">
                    <a:solidFill>
                      <a:srgbClr val="102B1C"/>
                    </a:solidFill>
                  </a:tcPr>
                </a:tc>
                <a:tc>
                  <a:txBody>
                    <a:bodyPr/>
                    <a:lstStyle/>
                    <a:p>
                      <a:r>
                        <a:rPr sz="1875">
                          <a:solidFill>
                            <a:srgbClr val="F2EAD5"/>
                          </a:solidFill>
                          <a:latin typeface="Arial"/>
                          <a:ea typeface="Arial"/>
                          <a:cs typeface="Arial"/>
                        </a:rPr>
                        <a:t>/getCluesById/:id/clues</a:t>
                      </a:r>
                    </a:p>
                  </a:txBody>
                  <a:tcPr marL="133350" marR="114300" marT="114300" marB="95250">
                    <a:solidFill>
                      <a:srgbClr val="102B1C"/>
                    </a:solidFill>
                  </a:tcPr>
                </a:tc>
                <a:tc>
                  <a:txBody>
                    <a:bodyPr/>
                    <a:lstStyle/>
                    <a:p>
                      <a:r>
                        <a:rPr sz="1875">
                          <a:solidFill>
                            <a:srgbClr val="F2EAD5"/>
                          </a:solidFill>
                          <a:latin typeface="Arial"/>
                          <a:ea typeface="Arial"/>
                          <a:cs typeface="Arial"/>
                        </a:rPr>
                        <a:t>Read current clues</a:t>
                      </a:r>
                    </a:p>
                  </a:txBody>
                  <a:tcPr marL="133350" marR="114300" marT="114300" marB="95250">
                    <a:solidFill>
                      <a:srgbClr val="102B1C"/>
                    </a:solidFill>
                  </a:tcPr>
                </a:tc>
              </a:tr>
              <a:tr h="596900">
                <a:tc>
                  <a:txBody>
                    <a:bodyPr/>
                    <a:lstStyle/>
                    <a:p>
                      <a:r>
                        <a:rPr sz="1875">
                          <a:solidFill>
                            <a:srgbClr val="F2EAD5"/>
                          </a:solidFill>
                          <a:latin typeface="Arial"/>
                          <a:ea typeface="Arial"/>
                          <a:cs typeface="Arial"/>
                        </a:rPr>
                        <a:t>POST</a:t>
                      </a:r>
                    </a:p>
                  </a:txBody>
                  <a:tcPr marL="133350" marR="114300" marT="114300" marB="95250">
                    <a:solidFill>
                      <a:srgbClr val="102B1C"/>
                    </a:solidFill>
                  </a:tcPr>
                </a:tc>
                <a:tc>
                  <a:txBody>
                    <a:bodyPr/>
                    <a:lstStyle/>
                    <a:p>
                      <a:r>
                        <a:rPr sz="1875">
                          <a:solidFill>
                            <a:srgbClr val="F2EAD5"/>
                          </a:solidFill>
                          <a:latin typeface="Arial"/>
                          <a:ea typeface="Arial"/>
                          <a:cs typeface="Arial"/>
                        </a:rPr>
                        <a:t>/submitAnswer/:id/answers</a:t>
                      </a:r>
                    </a:p>
                  </a:txBody>
                  <a:tcPr marL="133350" marR="114300" marT="114300" marB="95250">
                    <a:solidFill>
                      <a:srgbClr val="102B1C"/>
                    </a:solidFill>
                  </a:tcPr>
                </a:tc>
                <a:tc>
                  <a:txBody>
                    <a:bodyPr/>
                    <a:lstStyle/>
                    <a:p>
                      <a:r>
                        <a:rPr sz="1875">
                          <a:solidFill>
                            <a:srgbClr val="F2EAD5"/>
                          </a:solidFill>
                          <a:latin typeface="Arial"/>
                          <a:ea typeface="Arial"/>
                          <a:cs typeface="Arial"/>
                        </a:rPr>
                        <a:t>Check an answer</a:t>
                      </a:r>
                    </a:p>
                  </a:txBody>
                  <a:tcPr marL="133350" marR="114300" marT="114300" marB="95250">
                    <a:solidFill>
                      <a:srgbClr val="102B1C"/>
                    </a:solidFill>
                  </a:tcPr>
                </a:tc>
              </a:tr>
              <a:tr h="596900">
                <a:tc>
                  <a:txBody>
                    <a:bodyPr/>
                    <a:lstStyle/>
                    <a:p>
                      <a:r>
                        <a:rPr sz="1875">
                          <a:solidFill>
                            <a:srgbClr val="F2EAD5"/>
                          </a:solidFill>
                          <a:latin typeface="Arial"/>
                          <a:ea typeface="Arial"/>
                          <a:cs typeface="Arial"/>
                        </a:rPr>
                        <a:t>PATCH</a:t>
                      </a:r>
                    </a:p>
                  </a:txBody>
                  <a:tcPr marL="133350" marR="114300" marT="114300" marB="95250">
                    <a:solidFill>
                      <a:srgbClr val="102B1C"/>
                    </a:solidFill>
                  </a:tcPr>
                </a:tc>
                <a:tc>
                  <a:txBody>
                    <a:bodyPr/>
                    <a:lstStyle/>
                    <a:p>
                      <a:r>
                        <a:rPr sz="1875">
                          <a:solidFill>
                            <a:srgbClr val="F2EAD5"/>
                          </a:solidFill>
                          <a:latin typeface="Arial"/>
                          <a:ea typeface="Arial"/>
                          <a:cs typeface="Arial"/>
                        </a:rPr>
                        <a:t>/requestHints/:id/hint</a:t>
                      </a:r>
                    </a:p>
                  </a:txBody>
                  <a:tcPr marL="133350" marR="114300" marT="114300" marB="95250">
                    <a:solidFill>
                      <a:srgbClr val="102B1C"/>
                    </a:solidFill>
                  </a:tcPr>
                </a:tc>
                <a:tc>
                  <a:txBody>
                    <a:bodyPr/>
                    <a:lstStyle/>
                    <a:p>
                      <a:r>
                        <a:rPr sz="1875">
                          <a:solidFill>
                            <a:srgbClr val="F2EAD5"/>
                          </a:solidFill>
                          <a:latin typeface="Arial"/>
                          <a:ea typeface="Arial"/>
                          <a:cs typeface="Arial"/>
                        </a:rPr>
                        <a:t>Reveal the next hint</a:t>
                      </a:r>
                    </a:p>
                  </a:txBody>
                  <a:tcPr marL="133350" marR="114300" marT="114300" marB="95250">
                    <a:solidFill>
                      <a:srgbClr val="102B1C"/>
                    </a:solidFill>
                  </a:tcPr>
                </a:tc>
              </a:tr>
            </a:tbl>
          </a:graphicData>
        </a:graphic>
      </p:graphicFrame>
      <p:sp>
        <p:nvSpPr>
          <p:cNvPr id="4" name="">
            <a:extLst xmlns:a="http://schemas.openxmlformats.org/drawingml/2006/main">
              <a:ext uri="{FF2B5EF4-FFF2-40B4-BE49-F238E27FC236}">
                <a16:creationId xmlns:a16="http://schemas.microsoft.com/office/drawing/2014/main" id="{595EE280-F046-4DB2-8A5A-1128598B5AF0}"/>
              </a:ext>
            </a:extLst>
          </p:cNvPr>
          <p:cNvSpPr>
            <a:spLocks xmlns:a="http://schemas.openxmlformats.org/drawingml/2006/main" noGrp="1"/>
          </p:cNvSpPr>
          <p:nvPr/>
        </p:nvSpPr>
        <p:spPr>
          <a:xfrm xmlns:a="http://schemas.openxmlformats.org/drawingml/2006/main">
            <a:off x="685800" y="5972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D4BE69"/>
                </a:solidFill>
                <a:latin typeface="Arial"/>
                <a:ea typeface="Arial"/>
                <a:cs typeface="Arial"/>
              </a:defRPr>
            </a:pPr>
            <a:r>
              <a:rPr sz="1875" b="0">
                <a:solidFill>
                  <a:srgbClr val="D4BE69"/>
                </a:solidFill>
                <a:latin typeface="Arial"/>
                <a:ea typeface="Arial"/>
                <a:cs typeface="Arial"/>
              </a:rPr>
              <a:t>Base URL: http://localhost:3001/api/</a:t>
            </a:r>
          </a:p>
        </p:txBody>
      </p:sp>
    </p:spTree>
    <p:extLst>
      <p:ext uri="{BB962C8B-B14F-4D97-AF65-F5344CB8AC3E}">
        <p14:creationId xmlns:p14="http://schemas.microsoft.com/office/powerpoint/2010/main" val="129318029"/>
      </p:ext>
    </p:extLst>
  </p:cSld>
</p:sld>
</file>

<file path=ppt/slides/slide8.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5B0A95-DFFF-44E6-AA67-21BFC09DF437}"/>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Difficulties: GitHub Collaboration</a:t>
            </a:r>
          </a:p>
        </p:txBody>
      </p:sp>
      <p:sp>
        <p:nvSpPr>
          <p:cNvPr id="2" name="">
            <a:extLst xmlns:a="http://schemas.openxmlformats.org/drawingml/2006/main">
              <a:ext uri="{FF2B5EF4-FFF2-40B4-BE49-F238E27FC236}">
                <a16:creationId xmlns:a16="http://schemas.microsoft.com/office/drawing/2014/main" id="{85FB7699-CE75-4C57-BDBA-5E535611407A}"/>
              </a:ext>
            </a:extLst>
          </p:cNvPr>
          <p:cNvSpPr>
            <a:spLocks xmlns:a="http://schemas.openxmlformats.org/drawingml/2006/main" noGrp="1"/>
          </p:cNvSpPr>
          <p:nvPr/>
        </p:nvSpPr>
        <p:spPr>
          <a:xfrm xmlns:a="http://schemas.openxmlformats.org/drawingml/2006/main">
            <a:off x="685800" y="15621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D4BE69"/>
                </a:solidFill>
                <a:latin typeface="Arial"/>
                <a:ea typeface="Arial"/>
                <a:cs typeface="Arial"/>
              </a:defRPr>
            </a:pPr>
            <a:r>
              <a:rPr sz="3000" b="1">
                <a:solidFill>
                  <a:srgbClr val="D4BE69"/>
                </a:solidFill>
                <a:latin typeface="Arial"/>
                <a:ea typeface="Arial"/>
                <a:cs typeface="Arial"/>
              </a:rPr>
              <a:t>Keeping seven branches consistent</a:t>
            </a:r>
          </a:p>
        </p:txBody>
      </p:sp>
      <p:sp>
        <p:nvSpPr>
          <p:cNvPr id="3" name="">
            <a:extLst xmlns:a="http://schemas.openxmlformats.org/drawingml/2006/main">
              <a:ext uri="{FF2B5EF4-FFF2-40B4-BE49-F238E27FC236}">
                <a16:creationId xmlns:a16="http://schemas.microsoft.com/office/drawing/2014/main" id="{8358247F-3A4D-4628-8F20-4CD66FA1D122}"/>
              </a:ext>
            </a:extLst>
          </p:cNvPr>
          <p:cNvSpPr>
            <a:spLocks xmlns:a="http://schemas.openxmlformats.org/drawingml/2006/main" noGrp="1"/>
          </p:cNvSpPr>
          <p:nvPr/>
        </p:nvSpPr>
        <p:spPr>
          <a:xfrm xmlns:a="http://schemas.openxmlformats.org/drawingml/2006/main">
            <a:off x="685800" y="24193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C5CDB7"/>
                </a:solidFill>
                <a:latin typeface="Arial"/>
                <a:ea typeface="Arial"/>
                <a:cs typeface="Arial"/>
              </a:defRPr>
            </a:pPr>
            <a:r>
              <a:rPr sz="2325" b="0">
                <a:solidFill>
                  <a:srgbClr val="C5CDB7"/>
                </a:solidFill>
                <a:latin typeface="Arial"/>
                <a:ea typeface="Arial"/>
                <a:cs typeface="Arial"/>
              </a:rPr>
              <a:t>Parallel work created different project versions.</a:t>
            </a:r>
          </a:p>
          <a:p xmlns:a="http://schemas.openxmlformats.org/drawingml/2006/main">
            <a:pPr algn="l">
              <a:defRPr sz="2325" b="0">
                <a:solidFill>
                  <a:srgbClr val="C5CDB7"/>
                </a:solidFill>
                <a:latin typeface="Arial"/>
                <a:ea typeface="Arial"/>
                <a:cs typeface="Arial"/>
              </a:defRPr>
            </a:pPr>
            <a:r>
              <a:rPr sz="2325" b="0">
                <a:solidFill>
                  <a:srgbClr val="C5CDB7"/>
                </a:solidFill>
                <a:latin typeface="Arial"/>
                <a:ea typeface="Arial"/>
                <a:cs typeface="Arial"/>
              </a:rPr>
              <a:t>We needed a shared version for integration and testing.</a:t>
            </a:r>
          </a:p>
        </p:txBody>
      </p:sp>
      <p:sp>
        <p:nvSpPr>
          <p:cNvPr id="4" name="">
            <a:extLst xmlns:a="http://schemas.openxmlformats.org/drawingml/2006/main">
              <a:ext uri="{FF2B5EF4-FFF2-40B4-BE49-F238E27FC236}">
                <a16:creationId xmlns:a16="http://schemas.microsoft.com/office/drawing/2014/main" id="{617295A9-1A23-4B0E-A005-87C9F710ABF2}"/>
              </a:ext>
            </a:extLst>
          </p:cNvPr>
          <p:cNvSpPr>
            <a:spLocks xmlns:a="http://schemas.openxmlformats.org/drawingml/2006/main" noGrp="1"/>
          </p:cNvSpPr>
          <p:nvPr/>
        </p:nvSpPr>
        <p:spPr>
          <a:xfrm xmlns:a="http://schemas.openxmlformats.org/drawingml/2006/main">
            <a:off x="685800" y="41243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F2EAD5"/>
                </a:solidFill>
                <a:latin typeface="Arial"/>
                <a:ea typeface="Arial"/>
                <a:cs typeface="Arial"/>
              </a:defRPr>
            </a:pPr>
            <a:r>
              <a:rPr sz="2550" b="1">
                <a:solidFill>
                  <a:srgbClr val="F2EAD5"/>
                </a:solidFill>
                <a:latin typeface="Arial"/>
                <a:ea typeface="Arial"/>
                <a:cs typeface="Arial"/>
              </a:rPr>
              <a:t>Our approach</a:t>
            </a:r>
          </a:p>
        </p:txBody>
      </p:sp>
      <p:sp>
        <p:nvSpPr>
          <p:cNvPr id="5" name="">
            <a:extLst xmlns:a="http://schemas.openxmlformats.org/drawingml/2006/main">
              <a:ext uri="{FF2B5EF4-FFF2-40B4-BE49-F238E27FC236}">
                <a16:creationId xmlns:a16="http://schemas.microsoft.com/office/drawing/2014/main" id="{AFD3649C-77C4-471A-A145-558F99060403}"/>
              </a:ext>
            </a:extLst>
          </p:cNvPr>
          <p:cNvSpPr>
            <a:spLocks xmlns:a="http://schemas.openxmlformats.org/drawingml/2006/main" noGrp="1"/>
          </p:cNvSpPr>
          <p:nvPr/>
        </p:nvSpPr>
        <p:spPr>
          <a:xfrm xmlns:a="http://schemas.openxmlformats.org/drawingml/2006/main">
            <a:off x="685800" y="4772025"/>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C5CDB7"/>
                </a:solidFill>
                <a:latin typeface="Arial"/>
                <a:ea typeface="Arial"/>
                <a:cs typeface="Arial"/>
              </a:defRPr>
            </a:pPr>
            <a:r>
              <a:rPr sz="2250" b="0">
                <a:solidFill>
                  <a:srgbClr val="C5CDB7"/>
                </a:solidFill>
                <a:latin typeface="Arial"/>
                <a:ea typeface="Arial"/>
                <a:cs typeface="Arial"/>
              </a:rPr>
              <a:t>Assigned branches for member work</a:t>
            </a:r>
          </a:p>
          <a:p xmlns:a="http://schemas.openxmlformats.org/drawingml/2006/main">
            <a:pPr algn="l">
              <a:defRPr sz="2250" b="0">
                <a:solidFill>
                  <a:srgbClr val="C5CDB7"/>
                </a:solidFill>
                <a:latin typeface="Arial"/>
                <a:ea typeface="Arial"/>
                <a:cs typeface="Arial"/>
              </a:defRPr>
            </a:pPr>
            <a:r>
              <a:rPr sz="2250" b="0">
                <a:solidFill>
                  <a:srgbClr val="C5CDB7"/>
                </a:solidFill>
                <a:latin typeface="Arial"/>
                <a:ea typeface="Arial"/>
                <a:cs typeface="Arial"/>
              </a:rPr>
              <a:t>Review before integration</a:t>
            </a:r>
          </a:p>
          <a:p xmlns:a="http://schemas.openxmlformats.org/drawingml/2006/main">
            <a:pPr algn="l">
              <a:defRPr sz="2250" b="0">
                <a:solidFill>
                  <a:srgbClr val="C5CDB7"/>
                </a:solidFill>
                <a:latin typeface="Arial"/>
                <a:ea typeface="Arial"/>
                <a:cs typeface="Arial"/>
              </a:defRPr>
            </a:pPr>
            <a:r>
              <a:rPr sz="2250" b="0">
                <a:solidFill>
                  <a:srgbClr val="C5CDB7"/>
                </a:solidFill>
                <a:latin typeface="Arial"/>
                <a:ea typeface="Arial"/>
                <a:cs typeface="Arial"/>
              </a:rPr>
              <a:t>Synchronization after shared changes</a:t>
            </a:r>
          </a:p>
        </p:txBody>
      </p:sp>
    </p:spTree>
    <p:extLst>
      <p:ext uri="{BB962C8B-B14F-4D97-AF65-F5344CB8AC3E}">
        <p14:creationId xmlns:p14="http://schemas.microsoft.com/office/powerpoint/2010/main" val="2102689427"/>
      </p:ext>
    </p:extLst>
  </p:cSld>
</p:sld>
</file>

<file path=ppt/slides/slide9.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3089B0-5B11-4564-9B11-B14B1FCF9ABF}"/>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2EAD5"/>
                </a:solidFill>
                <a:latin typeface="Arial"/>
                <a:ea typeface="Arial"/>
                <a:cs typeface="Arial"/>
              </a:defRPr>
            </a:pPr>
            <a:r>
              <a:rPr sz="3600" b="1">
                <a:solidFill>
                  <a:srgbClr val="F2EAD5"/>
                </a:solidFill>
                <a:latin typeface="Arial"/>
                <a:ea typeface="Arial"/>
                <a:cs typeface="Arial"/>
              </a:rPr>
              <a:t>Team Workflow</a:t>
            </a:r>
          </a:p>
        </p:txBody>
      </p:sp>
      <p:sp>
        <p:nvSpPr>
          <p:cNvPr id="2" name="">
            <a:extLst xmlns:a="http://schemas.openxmlformats.org/drawingml/2006/main">
              <a:ext uri="{FF2B5EF4-FFF2-40B4-BE49-F238E27FC236}">
                <a16:creationId xmlns:a16="http://schemas.microsoft.com/office/drawing/2014/main" id="{378FD457-A36B-456D-9B9F-7C423B85FB41}"/>
              </a:ext>
            </a:extLst>
          </p:cNvPr>
          <p:cNvSpPr>
            <a:spLocks xmlns:a="http://schemas.openxmlformats.org/drawingml/2006/main" noGrp="1"/>
          </p:cNvSpPr>
          <p:nvPr/>
        </p:nvSpPr>
        <p:spPr>
          <a:xfrm xmlns:a="http://schemas.openxmlformats.org/drawingml/2006/main">
            <a:off x="685800" y="1657350"/>
            <a:ext cx="106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D4BE69"/>
                </a:solidFill>
                <a:latin typeface="Arial"/>
                <a:ea typeface="Arial"/>
                <a:cs typeface="Arial"/>
              </a:defRPr>
            </a:pPr>
            <a:r>
              <a:rPr sz="4050" b="1">
                <a:solidFill>
                  <a:srgbClr val="D4BE6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2BE8E56-7747-4AD2-8D2B-9B74A68B141F}"/>
              </a:ext>
            </a:extLst>
          </p:cNvPr>
          <p:cNvSpPr>
            <a:spLocks xmlns:a="http://schemas.openxmlformats.org/drawingml/2006/main" noGrp="1"/>
          </p:cNvSpPr>
          <p:nvPr/>
        </p:nvSpPr>
        <p:spPr>
          <a:xfrm xmlns:a="http://schemas.openxmlformats.org/drawingml/2006/main">
            <a:off x="2238375" y="167640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F2EAD5"/>
                </a:solidFill>
                <a:latin typeface="Arial"/>
                <a:ea typeface="Arial"/>
                <a:cs typeface="Arial"/>
              </a:defRPr>
            </a:pPr>
            <a:r>
              <a:rPr sz="2700" b="1">
                <a:solidFill>
                  <a:srgbClr val="F2EAD5"/>
                </a:solidFill>
                <a:latin typeface="Arial"/>
                <a:ea typeface="Arial"/>
                <a:cs typeface="Arial"/>
              </a:rPr>
              <a:t>Shared agreements</a:t>
            </a:r>
          </a:p>
        </p:txBody>
      </p:sp>
      <p:sp>
        <p:nvSpPr>
          <p:cNvPr id="4" name="">
            <a:extLst xmlns:a="http://schemas.openxmlformats.org/drawingml/2006/main">
              <a:ext uri="{FF2B5EF4-FFF2-40B4-BE49-F238E27FC236}">
                <a16:creationId xmlns:a16="http://schemas.microsoft.com/office/drawing/2014/main" id="{09AF3AD4-E379-4B2B-963F-F75EB2C9DA12}"/>
              </a:ext>
            </a:extLst>
          </p:cNvPr>
          <p:cNvSpPr>
            <a:spLocks xmlns:a="http://schemas.openxmlformats.org/drawingml/2006/main" noGrp="1"/>
          </p:cNvSpPr>
          <p:nvPr/>
        </p:nvSpPr>
        <p:spPr>
          <a:xfrm xmlns:a="http://schemas.openxmlformats.org/drawingml/2006/main">
            <a:off x="2238375" y="2276475"/>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C5CDB7"/>
                </a:solidFill>
                <a:latin typeface="Arial"/>
                <a:ea typeface="Arial"/>
                <a:cs typeface="Arial"/>
              </a:defRPr>
            </a:pPr>
            <a:r>
              <a:rPr sz="2175" b="0">
                <a:solidFill>
                  <a:srgbClr val="C5CDB7"/>
                </a:solidFill>
                <a:latin typeface="Arial"/>
                <a:ea typeface="Arial"/>
                <a:cs typeface="Arial"/>
              </a:rPr>
              <a:t>Story, API, and styling contracts</a:t>
            </a:r>
          </a:p>
        </p:txBody>
      </p:sp>
      <p:sp>
        <p:nvSpPr>
          <p:cNvPr id="5" name="">
            <a:extLst xmlns:a="http://schemas.openxmlformats.org/drawingml/2006/main">
              <a:ext uri="{FF2B5EF4-FFF2-40B4-BE49-F238E27FC236}">
                <a16:creationId xmlns:a16="http://schemas.microsoft.com/office/drawing/2014/main" id="{6506F660-A664-46F5-B782-037C6D165A94}"/>
              </a:ext>
            </a:extLst>
          </p:cNvPr>
          <p:cNvSpPr>
            <a:spLocks xmlns:a="http://schemas.openxmlformats.org/drawingml/2006/main" noGrp="1"/>
          </p:cNvSpPr>
          <p:nvPr/>
        </p:nvSpPr>
        <p:spPr>
          <a:xfrm xmlns:a="http://schemas.openxmlformats.org/drawingml/2006/main">
            <a:off x="685800" y="3095625"/>
            <a:ext cx="106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D4BE69"/>
                </a:solidFill>
                <a:latin typeface="Arial"/>
                <a:ea typeface="Arial"/>
                <a:cs typeface="Arial"/>
              </a:defRPr>
            </a:pPr>
            <a:r>
              <a:rPr sz="4050" b="1">
                <a:solidFill>
                  <a:srgbClr val="D4BE69"/>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A328133-E087-468A-939D-D7322A2F98B6}"/>
              </a:ext>
            </a:extLst>
          </p:cNvPr>
          <p:cNvSpPr>
            <a:spLocks xmlns:a="http://schemas.openxmlformats.org/drawingml/2006/main" noGrp="1"/>
          </p:cNvSpPr>
          <p:nvPr/>
        </p:nvSpPr>
        <p:spPr>
          <a:xfrm xmlns:a="http://schemas.openxmlformats.org/drawingml/2006/main">
            <a:off x="2238375" y="3114675"/>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F2EAD5"/>
                </a:solidFill>
                <a:latin typeface="Arial"/>
                <a:ea typeface="Arial"/>
                <a:cs typeface="Arial"/>
              </a:defRPr>
            </a:pPr>
            <a:r>
              <a:rPr sz="2700" b="1">
                <a:solidFill>
                  <a:srgbClr val="F2EAD5"/>
                </a:solidFill>
                <a:latin typeface="Arial"/>
                <a:ea typeface="Arial"/>
                <a:cs typeface="Arial"/>
              </a:rPr>
              <a:t>Clear assignments</a:t>
            </a:r>
          </a:p>
        </p:txBody>
      </p:sp>
      <p:sp>
        <p:nvSpPr>
          <p:cNvPr id="7" name="">
            <a:extLst xmlns:a="http://schemas.openxmlformats.org/drawingml/2006/main">
              <a:ext uri="{FF2B5EF4-FFF2-40B4-BE49-F238E27FC236}">
                <a16:creationId xmlns:a16="http://schemas.microsoft.com/office/drawing/2014/main" id="{D71FDE81-2F11-4E87-971D-C546BDED2C14}"/>
              </a:ext>
            </a:extLst>
          </p:cNvPr>
          <p:cNvSpPr>
            <a:spLocks xmlns:a="http://schemas.openxmlformats.org/drawingml/2006/main" noGrp="1"/>
          </p:cNvSpPr>
          <p:nvPr/>
        </p:nvSpPr>
        <p:spPr>
          <a:xfrm xmlns:a="http://schemas.openxmlformats.org/drawingml/2006/main">
            <a:off x="2238375" y="37147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C5CDB7"/>
                </a:solidFill>
                <a:latin typeface="Arial"/>
                <a:ea typeface="Arial"/>
                <a:cs typeface="Arial"/>
              </a:defRPr>
            </a:pPr>
            <a:r>
              <a:rPr sz="2175" b="0">
                <a:solidFill>
                  <a:srgbClr val="C5CDB7"/>
                </a:solidFill>
                <a:latin typeface="Arial"/>
                <a:ea typeface="Arial"/>
                <a:cs typeface="Arial"/>
              </a:rPr>
              <a:t>Tasks matched to member roles</a:t>
            </a:r>
          </a:p>
        </p:txBody>
      </p:sp>
      <p:sp>
        <p:nvSpPr>
          <p:cNvPr id="8" name="">
            <a:extLst xmlns:a="http://schemas.openxmlformats.org/drawingml/2006/main">
              <a:ext uri="{FF2B5EF4-FFF2-40B4-BE49-F238E27FC236}">
                <a16:creationId xmlns:a16="http://schemas.microsoft.com/office/drawing/2014/main" id="{27E9A317-7D7E-44BE-ACBD-1A23969B9622}"/>
              </a:ext>
            </a:extLst>
          </p:cNvPr>
          <p:cNvSpPr>
            <a:spLocks xmlns:a="http://schemas.openxmlformats.org/drawingml/2006/main" noGrp="1"/>
          </p:cNvSpPr>
          <p:nvPr/>
        </p:nvSpPr>
        <p:spPr>
          <a:xfrm xmlns:a="http://schemas.openxmlformats.org/drawingml/2006/main">
            <a:off x="685800" y="4533900"/>
            <a:ext cx="106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D4BE69"/>
                </a:solidFill>
                <a:latin typeface="Arial"/>
                <a:ea typeface="Arial"/>
                <a:cs typeface="Arial"/>
              </a:defRPr>
            </a:pPr>
            <a:r>
              <a:rPr sz="4050" b="1">
                <a:solidFill>
                  <a:srgbClr val="D4BE69"/>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5CE5110F-464E-43D9-A573-7B1527EBA46F}"/>
              </a:ext>
            </a:extLst>
          </p:cNvPr>
          <p:cNvSpPr>
            <a:spLocks xmlns:a="http://schemas.openxmlformats.org/drawingml/2006/main" noGrp="1"/>
          </p:cNvSpPr>
          <p:nvPr/>
        </p:nvSpPr>
        <p:spPr>
          <a:xfrm xmlns:a="http://schemas.openxmlformats.org/drawingml/2006/main">
            <a:off x="2238375" y="45529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F2EAD5"/>
                </a:solidFill>
                <a:latin typeface="Arial"/>
                <a:ea typeface="Arial"/>
                <a:cs typeface="Arial"/>
              </a:defRPr>
            </a:pPr>
            <a:r>
              <a:rPr sz="2700" b="1">
                <a:solidFill>
                  <a:srgbClr val="F2EAD5"/>
                </a:solidFill>
                <a:latin typeface="Arial"/>
                <a:ea typeface="Arial"/>
                <a:cs typeface="Arial"/>
              </a:rPr>
              <a:t>Review and integration</a:t>
            </a:r>
          </a:p>
        </p:txBody>
      </p:sp>
      <p:sp>
        <p:nvSpPr>
          <p:cNvPr id="10" name="">
            <a:extLst xmlns:a="http://schemas.openxmlformats.org/drawingml/2006/main">
              <a:ext uri="{FF2B5EF4-FFF2-40B4-BE49-F238E27FC236}">
                <a16:creationId xmlns:a16="http://schemas.microsoft.com/office/drawing/2014/main" id="{EB11ABA3-9FB3-4684-A9B7-57208219485E}"/>
              </a:ext>
            </a:extLst>
          </p:cNvPr>
          <p:cNvSpPr>
            <a:spLocks xmlns:a="http://schemas.openxmlformats.org/drawingml/2006/main" noGrp="1"/>
          </p:cNvSpPr>
          <p:nvPr/>
        </p:nvSpPr>
        <p:spPr>
          <a:xfrm xmlns:a="http://schemas.openxmlformats.org/drawingml/2006/main">
            <a:off x="2238375" y="5153025"/>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C5CDB7"/>
                </a:solidFill>
                <a:latin typeface="Arial"/>
                <a:ea typeface="Arial"/>
                <a:cs typeface="Arial"/>
              </a:defRPr>
            </a:pPr>
            <a:r>
              <a:rPr sz="2175" b="0">
                <a:solidFill>
                  <a:srgbClr val="C5CDB7"/>
                </a:solidFill>
                <a:latin typeface="Arial"/>
                <a:ea typeface="Arial"/>
                <a:cs typeface="Arial"/>
              </a:rPr>
              <a:t>Majed coordinated the shared version</a:t>
            </a:r>
          </a:p>
        </p:txBody>
      </p:sp>
    </p:spTree>
    <p:extLst>
      <p:ext uri="{BB962C8B-B14F-4D97-AF65-F5344CB8AC3E}">
        <p14:creationId xmlns:p14="http://schemas.microsoft.com/office/powerpoint/2010/main" val="568960437"/>
      </p:ext>
    </p:extLst>
  </p:cSld>
</p:sld>
</file>

<file path=ppt/slides/slide10.xml><?xml version="1.0" encoding="utf-8"?>
<p:sld xmlns:p="http://schemas.openxmlformats.org/presentationml/2006/main">
  <p:cSld>
    <p:bg>
      <p:bgPr>
        <a:solidFill xmlns:a="http://schemas.openxmlformats.org/drawingml/2006/main">
          <a:srgbClr val="102B1C"/>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1470707063574640"/>
          <a:stretch xmlns:a="http://schemas.openxmlformats.org/drawingml/2006/main"/>
        </p:blipFill>
        <p:spPr>
          <a:xfrm xmlns:a="http://schemas.openxmlformats.org/drawingml/2006/main">
            <a:off x="4629150" y="1000125"/>
            <a:ext cx="2933700" cy="209161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2AB0DB-555E-4869-8688-A24C24E92A43}"/>
              </a:ext>
            </a:extLst>
          </p:cNvPr>
          <p:cNvSpPr>
            <a:spLocks xmlns:a="http://schemas.openxmlformats.org/drawingml/2006/main" noGrp="1"/>
          </p:cNvSpPr>
          <p:nvPr/>
        </p:nvSpPr>
        <p:spPr>
          <a:xfrm xmlns:a="http://schemas.openxmlformats.org/drawingml/2006/main">
            <a:off x="1047750" y="4000500"/>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925" b="1">
                <a:solidFill>
                  <a:srgbClr val="F2EAD5"/>
                </a:solidFill>
                <a:latin typeface="Arial"/>
                <a:ea typeface="Arial"/>
                <a:cs typeface="Arial"/>
              </a:defRPr>
            </a:pPr>
            <a:r>
              <a:rPr sz="2925" b="1">
                <a:solidFill>
                  <a:srgbClr val="F2EAD5"/>
                </a:solidFill>
                <a:latin typeface="Arial"/>
                <a:ea typeface="Arial"/>
                <a:cs typeface="Arial"/>
              </a:rPr>
              <a:t>The Puzzle Lab team thanks you for listening</a:t>
            </a:r>
          </a:p>
        </p:txBody>
      </p:sp>
      <p:sp>
        <p:nvSpPr>
          <p:cNvPr id="3" name="">
            <a:extLst xmlns:a="http://schemas.openxmlformats.org/drawingml/2006/main">
              <a:ext uri="{FF2B5EF4-FFF2-40B4-BE49-F238E27FC236}">
                <a16:creationId xmlns:a16="http://schemas.microsoft.com/office/drawing/2014/main" id="{D6D07855-D511-40F7-A3F6-E838291AC249}"/>
              </a:ext>
            </a:extLst>
          </p:cNvPr>
          <p:cNvSpPr>
            <a:spLocks xmlns:a="http://schemas.openxmlformats.org/drawingml/2006/main" noGrp="1"/>
          </p:cNvSpPr>
          <p:nvPr/>
        </p:nvSpPr>
        <p:spPr>
          <a:xfrm xmlns:a="http://schemas.openxmlformats.org/drawingml/2006/main">
            <a:off x="1047750" y="526732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00" b="0">
                <a:solidFill>
                  <a:srgbClr val="D4BE69"/>
                </a:solidFill>
                <a:latin typeface="Arial"/>
                <a:ea typeface="Arial"/>
                <a:cs typeface="Arial"/>
              </a:defRPr>
            </a:pPr>
            <a:r>
              <a:rPr sz="2100" b="0">
                <a:solidFill>
                  <a:srgbClr val="D4BE69"/>
                </a:solidFill>
                <a:latin typeface="Arial"/>
                <a:ea typeface="Arial"/>
                <a:cs typeface="Arial"/>
              </a:rPr>
              <a:t>Questions</a:t>
            </a:r>
          </a:p>
        </p:txBody>
      </p:sp>
    </p:spTree>
    <p:extLst>
      <p:ext uri="{BB962C8B-B14F-4D97-AF65-F5344CB8AC3E}">
        <p14:creationId xmlns:p14="http://schemas.microsoft.com/office/powerpoint/2010/main" val="1834671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2026-10-06T01:46:16.9560000Z</dcterms:created>
  <dcterms:modified xsi:type="dcterms:W3CDTF">2026-10-06T01:46:16.9560000Z</dcterms:modified>
</coreProperties>
</file>